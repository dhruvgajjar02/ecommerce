
<file path=[Content_Types].xml><?xml version="1.0" encoding="utf-8"?>
<Types xmlns="http://schemas.openxmlformats.org/package/2006/content-types">
  <Default Extension="glb" ContentType="model/gltf.binary"/>
  <Default Extension="ico" ContentType="image/x-ico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17"/>
  </p:notesMasterIdLst>
  <p:handoutMasterIdLst>
    <p:handoutMasterId r:id="rId18"/>
  </p:handoutMasterIdLst>
  <p:sldIdLst>
    <p:sldId id="256" r:id="rId5"/>
    <p:sldId id="257" r:id="rId6"/>
    <p:sldId id="286" r:id="rId7"/>
    <p:sldId id="288" r:id="rId8"/>
    <p:sldId id="289" r:id="rId9"/>
    <p:sldId id="297" r:id="rId10"/>
    <p:sldId id="290" r:id="rId11"/>
    <p:sldId id="291" r:id="rId12"/>
    <p:sldId id="292" r:id="rId13"/>
    <p:sldId id="295" r:id="rId14"/>
    <p:sldId id="296" r:id="rId15"/>
    <p:sldId id="29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5646" autoAdjust="0"/>
  </p:normalViewPr>
  <p:slideViewPr>
    <p:cSldViewPr snapToGrid="0">
      <p:cViewPr varScale="1">
        <p:scale>
          <a:sx n="61" d="100"/>
          <a:sy n="61" d="100"/>
        </p:scale>
        <p:origin x="84" y="128"/>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5/31/2024</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5/31/2024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399008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965845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dirty="0"/>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ico"/><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2.png"/><Relationship Id="rId4" Type="http://schemas.microsoft.com/office/2017/06/relationships/model3d" Target="../media/model3d1.glb"/></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p:txBody>
          <a:bodyPr/>
          <a:lstStyle/>
          <a:p>
            <a:r>
              <a:rPr lang="en-US" sz="7200" dirty="0">
                <a:latin typeface="Lucida Calligraphy" panose="03010101010101010101" pitchFamily="66" charset="0"/>
              </a:rPr>
              <a:t>Clickmart</a:t>
            </a:r>
          </a:p>
        </p:txBody>
      </p:sp>
      <p:pic>
        <p:nvPicPr>
          <p:cNvPr id="5" name="Picture Placeholder 4">
            <a:extLst>
              <a:ext uri="{FF2B5EF4-FFF2-40B4-BE49-F238E27FC236}">
                <a16:creationId xmlns:a16="http://schemas.microsoft.com/office/drawing/2014/main" id="{28661ED4-B843-4269-9935-9A63BD56B730}"/>
              </a:ext>
            </a:extLst>
          </p:cNvPr>
          <p:cNvPicPr>
            <a:picLocks noGrp="1" noChangeAspect="1"/>
          </p:cNvPicPr>
          <p:nvPr>
            <p:ph type="pic" sz="quarter" idx="10"/>
          </p:nvPr>
        </p:nvPicPr>
        <p:blipFill>
          <a:blip r:embed="rId3"/>
          <a:srcRect l="228" r="228"/>
          <a:stretch>
            <a:fillRect/>
          </a:stretch>
        </p:blipFill>
        <p:spPr>
          <a:xfrm>
            <a:off x="7098942" y="1088887"/>
            <a:ext cx="4500562" cy="4521200"/>
          </a:xfrm>
        </p:spPr>
      </p:pic>
      <mc:AlternateContent xmlns:mc="http://schemas.openxmlformats.org/markup-compatibility/2006">
        <mc:Choice xmlns:am3d="http://schemas.microsoft.com/office/drawing/2017/model3d" Requires="am3d">
          <p:graphicFrame>
            <p:nvGraphicFramePr>
              <p:cNvPr id="6" name="3D Model 5" descr="Grunge Sneakers">
                <a:extLst>
                  <a:ext uri="{FF2B5EF4-FFF2-40B4-BE49-F238E27FC236}">
                    <a16:creationId xmlns:a16="http://schemas.microsoft.com/office/drawing/2014/main" id="{2A3CBD7E-9B5A-409B-9476-1049BA0B309A}"/>
                  </a:ext>
                </a:extLst>
              </p:cNvPr>
              <p:cNvGraphicFramePr>
                <a:graphicFrameLocks noChangeAspect="1"/>
              </p:cNvGraphicFramePr>
              <p:nvPr>
                <p:extLst>
                  <p:ext uri="{D42A27DB-BD31-4B8C-83A1-F6EECF244321}">
                    <p14:modId xmlns:p14="http://schemas.microsoft.com/office/powerpoint/2010/main" val="1245640338"/>
                  </p:ext>
                </p:extLst>
              </p:nvPr>
            </p:nvGraphicFramePr>
            <p:xfrm>
              <a:off x="5174789" y="4851743"/>
              <a:ext cx="2229862" cy="1516686"/>
            </p:xfrm>
            <a:graphic>
              <a:graphicData uri="http://schemas.microsoft.com/office/drawing/2017/model3d">
                <am3d:model3d r:embed="rId4">
                  <am3d:spPr>
                    <a:xfrm>
                      <a:off x="0" y="0"/>
                      <a:ext cx="2229862" cy="1516686"/>
                    </a:xfrm>
                    <a:prstGeom prst="rect">
                      <a:avLst/>
                    </a:prstGeom>
                  </am3d:spPr>
                  <am3d:camera>
                    <am3d:pos x="0" y="0" z="67501729"/>
                    <am3d:up dx="0" dy="36000000" dz="0"/>
                    <am3d:lookAt x="0" y="0" z="0"/>
                    <am3d:perspective fov="2700000"/>
                  </am3d:camera>
                  <am3d:trans>
                    <am3d:meterPerModelUnit n="3503305" d="1000000"/>
                    <am3d:preTrans dx="-556" dy="-7435124" dz="-4150653"/>
                    <am3d:scale>
                      <am3d:sx n="1000000" d="1000000"/>
                      <am3d:sy n="1000000" d="1000000"/>
                      <am3d:sz n="1000000" d="1000000"/>
                    </am3d:scale>
                    <am3d:rot ax="1200000" ay="-1800000" az="-600000"/>
                    <am3d:postTrans dx="0" dy="0" dz="0"/>
                  </am3d:trans>
                  <am3d:raster rName="Office3DRenderer" rVer="16.0.8326">
                    <am3d:blip r:embed="rId5"/>
                  </am3d:raster>
                  <am3d:objViewport viewportSz="27053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Grunge Sneakers">
                <a:extLst>
                  <a:ext uri="{FF2B5EF4-FFF2-40B4-BE49-F238E27FC236}">
                    <a16:creationId xmlns:a16="http://schemas.microsoft.com/office/drawing/2014/main" id="{2A3CBD7E-9B5A-409B-9476-1049BA0B309A}"/>
                  </a:ext>
                </a:extLst>
              </p:cNvPr>
              <p:cNvPicPr>
                <a:picLocks noGrp="1" noRot="1" noChangeAspect="1" noMove="1" noResize="1" noEditPoints="1" noAdjustHandles="1" noChangeArrowheads="1" noChangeShapeType="1" noCrop="1"/>
              </p:cNvPicPr>
              <p:nvPr/>
            </p:nvPicPr>
            <p:blipFill>
              <a:blip r:embed="rId5"/>
              <a:stretch>
                <a:fillRect/>
              </a:stretch>
            </p:blipFill>
            <p:spPr>
              <a:xfrm>
                <a:off x="5174789" y="4851743"/>
                <a:ext cx="2229862" cy="1516686"/>
              </a:xfrm>
              <a:prstGeom prst="rect">
                <a:avLst/>
              </a:prstGeom>
            </p:spPr>
          </p:pic>
        </mc:Fallback>
      </mc:AlternateContent>
    </p:spTree>
    <p:extLst>
      <p:ext uri="{BB962C8B-B14F-4D97-AF65-F5344CB8AC3E}">
        <p14:creationId xmlns:p14="http://schemas.microsoft.com/office/powerpoint/2010/main" val="225930889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1000"/>
                                        <p:tgtEl>
                                          <p:spTgt spid="5"/>
                                        </p:tgtEl>
                                      </p:cBhvr>
                                    </p:animEffect>
                                  </p:childTnLst>
                                </p:cTn>
                              </p:par>
                              <p:par>
                                <p:cTn id="8" presetID="6" presetClass="entr" presetSubtype="32"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ircle(out)">
                                      <p:cBhvr>
                                        <p:cTn id="10" dur="1000"/>
                                        <p:tgtEl>
                                          <p:spTgt spid="2"/>
                                        </p:tgtEl>
                                      </p:cBhvr>
                                    </p:animEffect>
                                  </p:childTnLst>
                                </p:cTn>
                              </p:par>
                              <p:par>
                                <p:cTn id="11" presetID="26"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217">
                                          <p:stCondLst>
                                            <p:cond delay="0"/>
                                          </p:stCondLst>
                                        </p:cTn>
                                        <p:tgtEl>
                                          <p:spTgt spid="6"/>
                                        </p:tgtEl>
                                      </p:cBhvr>
                                    </p:animEffect>
                                    <p:anim calcmode="lin" valueType="num">
                                      <p:cBhvr>
                                        <p:cTn id="14" dur="683"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249"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249" tmFilter="0, 0; 0.125,0.2665; 0.25,0.4; 0.375,0.465; 0.5,0.5;  0.625,0.535; 0.75,0.6; 0.875,0.7335; 1,1">
                                          <p:stCondLst>
                                            <p:cond delay="249"/>
                                          </p:stCondLst>
                                        </p:cTn>
                                        <p:tgtEl>
                                          <p:spTgt spid="6"/>
                                        </p:tgtEl>
                                        <p:attrNameLst>
                                          <p:attrName>ppt_y</p:attrName>
                                        </p:attrNameLst>
                                      </p:cBhvr>
                                      <p:tavLst>
                                        <p:tav tm="0" fmla="#ppt_y-sin(pi*$)/9">
                                          <p:val>
                                            <p:fltVal val="0"/>
                                          </p:val>
                                        </p:tav>
                                        <p:tav tm="100000">
                                          <p:val>
                                            <p:fltVal val="1"/>
                                          </p:val>
                                        </p:tav>
                                      </p:tavLst>
                                    </p:anim>
                                    <p:anim calcmode="lin" valueType="num">
                                      <p:cBhvr>
                                        <p:cTn id="17" dur="124" tmFilter="0, 0; 0.125,0.2665; 0.25,0.4; 0.375,0.465; 0.5,0.5;  0.625,0.535; 0.75,0.6; 0.875,0.7335; 1,1">
                                          <p:stCondLst>
                                            <p:cond delay="497"/>
                                          </p:stCondLst>
                                        </p:cTn>
                                        <p:tgtEl>
                                          <p:spTgt spid="6"/>
                                        </p:tgtEl>
                                        <p:attrNameLst>
                                          <p:attrName>ppt_y</p:attrName>
                                        </p:attrNameLst>
                                      </p:cBhvr>
                                      <p:tavLst>
                                        <p:tav tm="0" fmla="#ppt_y-sin(pi*$)/27">
                                          <p:val>
                                            <p:fltVal val="0"/>
                                          </p:val>
                                        </p:tav>
                                        <p:tav tm="100000">
                                          <p:val>
                                            <p:fltVal val="1"/>
                                          </p:val>
                                        </p:tav>
                                      </p:tavLst>
                                    </p:anim>
                                    <p:anim calcmode="lin" valueType="num">
                                      <p:cBhvr>
                                        <p:cTn id="18" dur="62" tmFilter="0, 0; 0.125,0.2665; 0.25,0.4; 0.375,0.465; 0.5,0.5;  0.625,0.535; 0.75,0.6; 0.875,0.7335; 1,1">
                                          <p:stCondLst>
                                            <p:cond delay="621"/>
                                          </p:stCondLst>
                                        </p:cTn>
                                        <p:tgtEl>
                                          <p:spTgt spid="6"/>
                                        </p:tgtEl>
                                        <p:attrNameLst>
                                          <p:attrName>ppt_y</p:attrName>
                                        </p:attrNameLst>
                                      </p:cBhvr>
                                      <p:tavLst>
                                        <p:tav tm="0" fmla="#ppt_y-sin(pi*$)/81">
                                          <p:val>
                                            <p:fltVal val="0"/>
                                          </p:val>
                                        </p:tav>
                                        <p:tav tm="100000">
                                          <p:val>
                                            <p:fltVal val="1"/>
                                          </p:val>
                                        </p:tav>
                                      </p:tavLst>
                                    </p:anim>
                                    <p:animScale>
                                      <p:cBhvr>
                                        <p:cTn id="19" dur="10">
                                          <p:stCondLst>
                                            <p:cond delay="244"/>
                                          </p:stCondLst>
                                        </p:cTn>
                                        <p:tgtEl>
                                          <p:spTgt spid="6"/>
                                        </p:tgtEl>
                                      </p:cBhvr>
                                      <p:to x="100000" y="60000"/>
                                    </p:animScale>
                                    <p:animScale>
                                      <p:cBhvr>
                                        <p:cTn id="20" dur="62" decel="50000">
                                          <p:stCondLst>
                                            <p:cond delay="254"/>
                                          </p:stCondLst>
                                        </p:cTn>
                                        <p:tgtEl>
                                          <p:spTgt spid="6"/>
                                        </p:tgtEl>
                                      </p:cBhvr>
                                      <p:to x="100000" y="100000"/>
                                    </p:animScale>
                                    <p:animScale>
                                      <p:cBhvr>
                                        <p:cTn id="21" dur="10">
                                          <p:stCondLst>
                                            <p:cond delay="492"/>
                                          </p:stCondLst>
                                        </p:cTn>
                                        <p:tgtEl>
                                          <p:spTgt spid="6"/>
                                        </p:tgtEl>
                                      </p:cBhvr>
                                      <p:to x="100000" y="80000"/>
                                    </p:animScale>
                                    <p:animScale>
                                      <p:cBhvr>
                                        <p:cTn id="22" dur="62" decel="50000">
                                          <p:stCondLst>
                                            <p:cond delay="502"/>
                                          </p:stCondLst>
                                        </p:cTn>
                                        <p:tgtEl>
                                          <p:spTgt spid="6"/>
                                        </p:tgtEl>
                                      </p:cBhvr>
                                      <p:to x="100000" y="100000"/>
                                    </p:animScale>
                                    <p:animScale>
                                      <p:cBhvr>
                                        <p:cTn id="23" dur="10">
                                          <p:stCondLst>
                                            <p:cond delay="616"/>
                                          </p:stCondLst>
                                        </p:cTn>
                                        <p:tgtEl>
                                          <p:spTgt spid="6"/>
                                        </p:tgtEl>
                                      </p:cBhvr>
                                      <p:to x="100000" y="90000"/>
                                    </p:animScale>
                                    <p:animScale>
                                      <p:cBhvr>
                                        <p:cTn id="24" dur="62" decel="50000">
                                          <p:stCondLst>
                                            <p:cond delay="625"/>
                                          </p:stCondLst>
                                        </p:cTn>
                                        <p:tgtEl>
                                          <p:spTgt spid="6"/>
                                        </p:tgtEl>
                                      </p:cBhvr>
                                      <p:to x="100000" y="100000"/>
                                    </p:animScale>
                                    <p:animScale>
                                      <p:cBhvr>
                                        <p:cTn id="25" dur="10">
                                          <p:stCondLst>
                                            <p:cond delay="678"/>
                                          </p:stCondLst>
                                        </p:cTn>
                                        <p:tgtEl>
                                          <p:spTgt spid="6"/>
                                        </p:tgtEl>
                                      </p:cBhvr>
                                      <p:to x="100000" y="95000"/>
                                    </p:animScale>
                                    <p:animScale>
                                      <p:cBhvr>
                                        <p:cTn id="26" dur="62" decel="50000">
                                          <p:stCondLst>
                                            <p:cond delay="688"/>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371697"/>
          </a:xfrm>
        </p:spPr>
        <p:txBody>
          <a:bodyPr/>
          <a:lstStyle/>
          <a:p>
            <a:r>
              <a:rPr lang="en-US" sz="6000" dirty="0">
                <a:latin typeface="Arial Rounded MT Bold" panose="020F0704030504030204" pitchFamily="34" charset="0"/>
              </a:rPr>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fontScale="92500" lnSpcReduction="20000"/>
          </a:bodyPr>
          <a:lstStyle/>
          <a:p>
            <a:pPr marL="457200" indent="-457200">
              <a:lnSpc>
                <a:spcPct val="11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marL="457200" indent="-457200">
              <a:lnSpc>
                <a:spcPct val="11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Technologies</a:t>
            </a:r>
          </a:p>
          <a:p>
            <a:pPr marL="457200" indent="-457200">
              <a:lnSpc>
                <a:spcPct val="11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Features </a:t>
            </a:r>
            <a:endParaRPr lang="en-US" dirty="0">
              <a:latin typeface="Times New Roman" panose="02020603050405020304" pitchFamily="18" charset="0"/>
              <a:cs typeface="Times New Roman" panose="02020603050405020304" pitchFamily="18" charset="0"/>
            </a:endParaRPr>
          </a:p>
          <a:p>
            <a:pPr marL="457200" indent="-457200">
              <a:lnSpc>
                <a:spcPct val="11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Data Flow Diagram</a:t>
            </a:r>
          </a:p>
          <a:p>
            <a:pPr marL="457200" indent="-457200">
              <a:lnSpc>
                <a:spcPct val="11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Advantage &amp; Disadvantages </a:t>
            </a:r>
            <a:endParaRPr lang="en-US" dirty="0">
              <a:latin typeface="Times New Roman" panose="02020603050405020304" pitchFamily="18" charset="0"/>
              <a:cs typeface="Times New Roman" panose="02020603050405020304" pitchFamily="18" charset="0"/>
            </a:endParaRPr>
          </a:p>
          <a:p>
            <a:pPr marL="457200" indent="-457200">
              <a:lnSpc>
                <a:spcPct val="11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Future Plans</a:t>
            </a:r>
          </a:p>
          <a:p>
            <a:pPr marL="457200" indent="-457200">
              <a:lnSpc>
                <a:spcPct val="11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Questions</a:t>
            </a:r>
          </a:p>
          <a:p>
            <a:pPr>
              <a:lnSpc>
                <a:spcPct val="110000"/>
              </a:lnSpc>
            </a:pPr>
            <a:endParaRPr lang="en-US" dirty="0"/>
          </a:p>
        </p:txBody>
      </p:sp>
    </p:spTree>
    <p:extLst>
      <p:ext uri="{BB962C8B-B14F-4D97-AF65-F5344CB8AC3E}">
        <p14:creationId xmlns:p14="http://schemas.microsoft.com/office/powerpoint/2010/main" val="1325608595"/>
      </p:ext>
    </p:extLst>
  </p:cSld>
  <p:clrMapOvr>
    <a:masterClrMapping/>
  </p:clrMapOvr>
  <mc:AlternateContent xmlns:mc="http://schemas.openxmlformats.org/markup-compatibility/2006">
    <mc:Choice xmlns:p14="http://schemas.microsoft.com/office/powerpoint/2010/main" Requires="p14">
      <p:transition spd="slow">
        <p14:reveal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childTnLst>
                                </p:cTn>
                              </p:par>
                              <p:par>
                                <p:cTn id="12" presetID="10" presetClass="entr" presetSubtype="0" fill="hold" nodeType="withEffect">
                                  <p:stCondLst>
                                    <p:cond delay="25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childTnLst>
                                </p:cTn>
                              </p:par>
                              <p:par>
                                <p:cTn id="15" presetID="10" presetClass="entr" presetSubtype="0" fill="hold" nodeType="withEffect">
                                  <p:stCondLst>
                                    <p:cond delay="5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par>
                                <p:cTn id="18" presetID="10" presetClass="entr" presetSubtype="0" fill="hold" nodeType="withEffect">
                                  <p:stCondLst>
                                    <p:cond delay="75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par>
                                <p:cTn id="21" presetID="10" presetClass="entr" presetSubtype="0" fill="hold" nodeType="withEffect">
                                  <p:stCondLst>
                                    <p:cond delay="100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childTnLst>
                                </p:cTn>
                              </p:par>
                              <p:par>
                                <p:cTn id="24" presetID="10" presetClass="entr" presetSubtype="0" fill="hold" nodeType="withEffect">
                                  <p:stCondLst>
                                    <p:cond delay="125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childTnLst>
                                </p:cTn>
                              </p:par>
                              <p:par>
                                <p:cTn id="27" presetID="10" presetClass="entr" presetSubtype="0" fill="hold" nodeType="withEffect">
                                  <p:stCondLst>
                                    <p:cond delay="150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391080" y="89451"/>
            <a:ext cx="5943599" cy="1920240"/>
          </a:xfrm>
        </p:spPr>
        <p:txBody>
          <a:bodyPr/>
          <a:lstStyle/>
          <a:p>
            <a:r>
              <a:rPr lang="en-IN" sz="6000" dirty="0">
                <a:latin typeface="Arial Rounded MT Bold" panose="020F0704030504030204" pitchFamily="34" charset="0"/>
                <a:cs typeface="Aharoni" panose="02010803020104030203" pitchFamily="2" charset="-79"/>
              </a:rPr>
              <a:t>Introduction</a:t>
            </a:r>
            <a:r>
              <a:rPr lang="en-IN" dirty="0"/>
              <a:t> </a:t>
            </a:r>
            <a:endParaRPr lang="en-US" dirty="0"/>
          </a:p>
        </p:txBody>
      </p:sp>
      <p:sp>
        <p:nvSpPr>
          <p:cNvPr id="5" name="Content Placeholder 4">
            <a:extLst>
              <a:ext uri="{FF2B5EF4-FFF2-40B4-BE49-F238E27FC236}">
                <a16:creationId xmlns:a16="http://schemas.microsoft.com/office/drawing/2014/main" id="{628A98A2-35CD-4114-BCC7-074715047F6B}"/>
              </a:ext>
            </a:extLst>
          </p:cNvPr>
          <p:cNvSpPr>
            <a:spLocks noGrp="1"/>
          </p:cNvSpPr>
          <p:nvPr>
            <p:ph idx="15"/>
          </p:nvPr>
        </p:nvSpPr>
        <p:spPr>
          <a:xfrm>
            <a:off x="2365513" y="2517189"/>
            <a:ext cx="9127577" cy="3383279"/>
          </a:xfrm>
        </p:spPr>
        <p:txBody>
          <a:bodyPr>
            <a:normAutofit lnSpcReduction="10000"/>
          </a:bodyPr>
          <a:lstStyle/>
          <a:p>
            <a:pPr algn="just">
              <a:lnSpc>
                <a:spcPct val="150000"/>
              </a:lnSpc>
            </a:pPr>
            <a:r>
              <a:rPr lang="en-US" sz="2400" dirty="0">
                <a:latin typeface="Georgia Pro Cond Semibold" panose="02040706050405020303" pitchFamily="18" charset="0"/>
                <a:ea typeface="Microsoft JhengHei UI" panose="020B0604030504040204" pitchFamily="34" charset="-120"/>
                <a:cs typeface="Times New Roman" panose="02020603050405020304" pitchFamily="18" charset="0"/>
              </a:rPr>
              <a:t>Clickmart has changed how we buy and sell goods. It's about purchasing products or services online, making shopping convenient and accessible anytime, anywhere. With personalized experiences and secure transactions, it's revolutionized retail for businesses big and small, leveling the playing field and offering a global marketplace.</a:t>
            </a:r>
            <a:endParaRPr lang="en-IN" sz="2400" dirty="0">
              <a:latin typeface="Georgia Pro Cond Semibold" panose="02040706050405020303" pitchFamily="18" charset="0"/>
              <a:ea typeface="Microsoft JhengHei UI" panose="020B0604030504040204" pitchFamily="34" charset="-120"/>
              <a:cs typeface="Times New Roman" panose="02020603050405020304" pitchFamily="18" charset="0"/>
            </a:endParaRPr>
          </a:p>
          <a:p>
            <a:pPr algn="just">
              <a:lnSpc>
                <a:spcPct val="150000"/>
              </a:lnSpc>
            </a:pPr>
            <a:endParaRPr lang="en-IN" sz="2400" dirty="0">
              <a:latin typeface="Georgia Pro Cond Semibold" panose="02040706050405020303" pitchFamily="18" charset="0"/>
              <a:ea typeface="Microsoft JhengHei UI" panose="020B0604030504040204" pitchFamily="34" charset="-120"/>
            </a:endParaRPr>
          </a:p>
        </p:txBody>
      </p:sp>
    </p:spTree>
    <p:extLst>
      <p:ext uri="{BB962C8B-B14F-4D97-AF65-F5344CB8AC3E}">
        <p14:creationId xmlns:p14="http://schemas.microsoft.com/office/powerpoint/2010/main" val="36626771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1000" fill="hold"/>
                                        <p:tgtEl>
                                          <p:spTgt spid="2"/>
                                        </p:tgtEl>
                                        <p:attrNameLst>
                                          <p:attrName>ppt_x</p:attrName>
                                        </p:attrNameLst>
                                      </p:cBhvr>
                                      <p:tavLst>
                                        <p:tav tm="0">
                                          <p:val>
                                            <p:strVal val="0-#ppt_w/2"/>
                                          </p:val>
                                        </p:tav>
                                        <p:tav tm="100000">
                                          <p:val>
                                            <p:strVal val="#ppt_x"/>
                                          </p:val>
                                        </p:tav>
                                      </p:tavLst>
                                    </p:anim>
                                    <p:anim calcmode="lin" valueType="num">
                                      <p:cBhvr additive="base">
                                        <p:cTn id="13"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ctrTitle"/>
          </p:nvPr>
        </p:nvSpPr>
        <p:spPr>
          <a:xfrm>
            <a:off x="1167494" y="252550"/>
            <a:ext cx="6220278" cy="1050733"/>
          </a:xfrm>
        </p:spPr>
        <p:txBody>
          <a:bodyPr/>
          <a:lstStyle/>
          <a:p>
            <a:r>
              <a:rPr lang="en-US" dirty="0">
                <a:latin typeface="Arial Rounded MT Bold" panose="020F0704030504030204" pitchFamily="34" charset="0"/>
              </a:rPr>
              <a:t>Technologies</a:t>
            </a:r>
          </a:p>
        </p:txBody>
      </p:sp>
      <p:sp>
        <p:nvSpPr>
          <p:cNvPr id="6" name="TextBox 5">
            <a:extLst>
              <a:ext uri="{FF2B5EF4-FFF2-40B4-BE49-F238E27FC236}">
                <a16:creationId xmlns:a16="http://schemas.microsoft.com/office/drawing/2014/main" id="{D4B675D7-1598-42A8-B580-94B92558BC6B}"/>
              </a:ext>
            </a:extLst>
          </p:cNvPr>
          <p:cNvSpPr txBox="1"/>
          <p:nvPr/>
        </p:nvSpPr>
        <p:spPr>
          <a:xfrm>
            <a:off x="1167494" y="1671143"/>
            <a:ext cx="5832240" cy="3970318"/>
          </a:xfrm>
          <a:prstGeom prst="rect">
            <a:avLst/>
          </a:prstGeom>
          <a:noFill/>
        </p:spPr>
        <p:txBody>
          <a:bodyPr wrap="square" rtlCol="0">
            <a:spAutoFit/>
          </a:bodyPr>
          <a:lstStyle/>
          <a:p>
            <a:pPr marL="457200" indent="-457200">
              <a:buFont typeface="Wingdings" panose="05000000000000000000" pitchFamily="2" charset="2"/>
              <a:buChar char="Ø"/>
            </a:pPr>
            <a:r>
              <a:rPr lang="en-IN" sz="2800" dirty="0">
                <a:latin typeface="Georgia Pro Cond Semibold" panose="02040706050405020303" pitchFamily="18" charset="0"/>
              </a:rPr>
              <a:t>React </a:t>
            </a:r>
            <a:r>
              <a:rPr lang="en-IN" sz="2800" dirty="0" err="1">
                <a:latin typeface="Georgia Pro Cond Semibold" panose="02040706050405020303" pitchFamily="18" charset="0"/>
              </a:rPr>
              <a:t>Js</a:t>
            </a:r>
            <a:endParaRPr lang="en-IN" sz="2800" dirty="0">
              <a:latin typeface="Georgia Pro Cond Semibold" panose="02040706050405020303" pitchFamily="18" charset="0"/>
            </a:endParaRPr>
          </a:p>
          <a:p>
            <a:pPr marL="457200" indent="-457200">
              <a:buFont typeface="Wingdings" panose="05000000000000000000" pitchFamily="2" charset="2"/>
              <a:buChar char="Ø"/>
            </a:pPr>
            <a:endParaRPr lang="en-IN" sz="2800" dirty="0">
              <a:latin typeface="Georgia Pro Cond Semibold" panose="02040706050405020303" pitchFamily="18" charset="0"/>
            </a:endParaRPr>
          </a:p>
          <a:p>
            <a:pPr marL="457200" indent="-457200">
              <a:buFont typeface="Wingdings" panose="05000000000000000000" pitchFamily="2" charset="2"/>
              <a:buChar char="Ø"/>
            </a:pPr>
            <a:r>
              <a:rPr lang="en-IN" sz="2800" dirty="0">
                <a:latin typeface="Georgia Pro Cond Semibold" panose="02040706050405020303" pitchFamily="18" charset="0"/>
              </a:rPr>
              <a:t>Node </a:t>
            </a:r>
            <a:r>
              <a:rPr lang="en-IN" sz="2800" dirty="0" err="1">
                <a:latin typeface="Georgia Pro Cond Semibold" panose="02040706050405020303" pitchFamily="18" charset="0"/>
              </a:rPr>
              <a:t>Js</a:t>
            </a:r>
            <a:endParaRPr lang="en-IN" sz="2800" dirty="0">
              <a:latin typeface="Georgia Pro Cond Semibold" panose="02040706050405020303" pitchFamily="18" charset="0"/>
            </a:endParaRPr>
          </a:p>
          <a:p>
            <a:pPr marL="457200" indent="-457200">
              <a:buFont typeface="Wingdings" panose="05000000000000000000" pitchFamily="2" charset="2"/>
              <a:buChar char="Ø"/>
            </a:pPr>
            <a:endParaRPr lang="en-IN" sz="2800" dirty="0">
              <a:latin typeface="Georgia Pro Cond Semibold" panose="02040706050405020303" pitchFamily="18" charset="0"/>
            </a:endParaRPr>
          </a:p>
          <a:p>
            <a:pPr marL="457200" indent="-457200">
              <a:buFont typeface="Wingdings" panose="05000000000000000000" pitchFamily="2" charset="2"/>
              <a:buChar char="Ø"/>
            </a:pPr>
            <a:r>
              <a:rPr lang="en-IN" sz="2800" dirty="0">
                <a:latin typeface="Georgia Pro Cond Semibold" panose="02040706050405020303" pitchFamily="18" charset="0"/>
              </a:rPr>
              <a:t>MongoDB</a:t>
            </a:r>
          </a:p>
          <a:p>
            <a:pPr marL="457200" indent="-457200">
              <a:buFont typeface="Wingdings" panose="05000000000000000000" pitchFamily="2" charset="2"/>
              <a:buChar char="Ø"/>
            </a:pPr>
            <a:endParaRPr lang="en-IN" sz="2800" dirty="0">
              <a:latin typeface="Georgia Pro Cond Semibold" panose="02040706050405020303" pitchFamily="18" charset="0"/>
            </a:endParaRPr>
          </a:p>
          <a:p>
            <a:pPr marL="457200" indent="-457200">
              <a:buFont typeface="Wingdings" panose="05000000000000000000" pitchFamily="2" charset="2"/>
              <a:buChar char="Ø"/>
            </a:pPr>
            <a:r>
              <a:rPr lang="en-IN" sz="2800" dirty="0">
                <a:latin typeface="Georgia Pro Cond Semibold" panose="02040706050405020303" pitchFamily="18" charset="0"/>
              </a:rPr>
              <a:t>Postman </a:t>
            </a:r>
          </a:p>
          <a:p>
            <a:pPr marL="457200" indent="-457200">
              <a:buFont typeface="Wingdings" panose="05000000000000000000" pitchFamily="2" charset="2"/>
              <a:buChar char="Ø"/>
            </a:pPr>
            <a:endParaRPr lang="en-IN" sz="2800" dirty="0">
              <a:latin typeface="Georgia Pro Cond Semibold" panose="02040706050405020303" pitchFamily="18" charset="0"/>
            </a:endParaRPr>
          </a:p>
          <a:p>
            <a:pPr marL="457200" indent="-457200">
              <a:buFont typeface="Wingdings" panose="05000000000000000000" pitchFamily="2" charset="2"/>
              <a:buChar char="Ø"/>
            </a:pPr>
            <a:r>
              <a:rPr lang="en-IN" sz="2800" dirty="0">
                <a:latin typeface="Georgia Pro Cond Semibold" panose="02040706050405020303" pitchFamily="18" charset="0"/>
              </a:rPr>
              <a:t>PayPal Integration </a:t>
            </a:r>
          </a:p>
        </p:txBody>
      </p:sp>
    </p:spTree>
    <p:extLst>
      <p:ext uri="{BB962C8B-B14F-4D97-AF65-F5344CB8AC3E}">
        <p14:creationId xmlns:p14="http://schemas.microsoft.com/office/powerpoint/2010/main" val="77975060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25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par>
                                <p:cTn id="11" presetID="10" presetClass="entr" presetSubtype="0" fill="hold" nodeType="withEffect">
                                  <p:stCondLst>
                                    <p:cond delay="50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fade">
                                      <p:cBhvr>
                                        <p:cTn id="13" dur="500"/>
                                        <p:tgtEl>
                                          <p:spTgt spid="6">
                                            <p:txEl>
                                              <p:pRg st="4" end="4"/>
                                            </p:txEl>
                                          </p:spTgt>
                                        </p:tgtEl>
                                      </p:cBhvr>
                                    </p:animEffect>
                                  </p:childTnLst>
                                </p:cTn>
                              </p:par>
                              <p:par>
                                <p:cTn id="14" presetID="10" presetClass="entr" presetSubtype="0" fill="hold" nodeType="withEffect">
                                  <p:stCondLst>
                                    <p:cond delay="750"/>
                                  </p:stCondLst>
                                  <p:childTnLst>
                                    <p:set>
                                      <p:cBhvr>
                                        <p:cTn id="15" dur="1" fill="hold">
                                          <p:stCondLst>
                                            <p:cond delay="0"/>
                                          </p:stCondLst>
                                        </p:cTn>
                                        <p:tgtEl>
                                          <p:spTgt spid="6">
                                            <p:txEl>
                                              <p:pRg st="6" end="6"/>
                                            </p:txEl>
                                          </p:spTgt>
                                        </p:tgtEl>
                                        <p:attrNameLst>
                                          <p:attrName>style.visibility</p:attrName>
                                        </p:attrNameLst>
                                      </p:cBhvr>
                                      <p:to>
                                        <p:strVal val="visible"/>
                                      </p:to>
                                    </p:set>
                                    <p:animEffect transition="in" filter="fade">
                                      <p:cBhvr>
                                        <p:cTn id="16" dur="500"/>
                                        <p:tgtEl>
                                          <p:spTgt spid="6">
                                            <p:txEl>
                                              <p:pRg st="6" end="6"/>
                                            </p:txEl>
                                          </p:spTgt>
                                        </p:tgtEl>
                                      </p:cBhvr>
                                    </p:animEffect>
                                  </p:childTnLst>
                                </p:cTn>
                              </p:par>
                              <p:par>
                                <p:cTn id="17" presetID="10" presetClass="entr" presetSubtype="0" fill="hold" nodeType="withEffect">
                                  <p:stCondLst>
                                    <p:cond delay="1000"/>
                                  </p:stCondLst>
                                  <p:childTnLst>
                                    <p:set>
                                      <p:cBhvr>
                                        <p:cTn id="18" dur="1" fill="hold">
                                          <p:stCondLst>
                                            <p:cond delay="0"/>
                                          </p:stCondLst>
                                        </p:cTn>
                                        <p:tgtEl>
                                          <p:spTgt spid="6">
                                            <p:txEl>
                                              <p:pRg st="8" end="8"/>
                                            </p:txEl>
                                          </p:spTgt>
                                        </p:tgtEl>
                                        <p:attrNameLst>
                                          <p:attrName>style.visibility</p:attrName>
                                        </p:attrNameLst>
                                      </p:cBhvr>
                                      <p:to>
                                        <p:strVal val="visible"/>
                                      </p:to>
                                    </p:set>
                                    <p:animEffect transition="in" filter="fade">
                                      <p:cBhvr>
                                        <p:cTn id="19" dur="500"/>
                                        <p:tgtEl>
                                          <p:spTgt spid="6">
                                            <p:txEl>
                                              <p:pRg st="8" end="8"/>
                                            </p:txEl>
                                          </p:spTgt>
                                        </p:tgtEl>
                                      </p:cBhvr>
                                    </p:animEffect>
                                  </p:childTnLst>
                                </p:cTn>
                              </p:par>
                              <p:par>
                                <p:cTn id="20" presetID="2" presetClass="entr" presetSubtype="8"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1000" fill="hold"/>
                                        <p:tgtEl>
                                          <p:spTgt spid="2"/>
                                        </p:tgtEl>
                                        <p:attrNameLst>
                                          <p:attrName>ppt_x</p:attrName>
                                        </p:attrNameLst>
                                      </p:cBhvr>
                                      <p:tavLst>
                                        <p:tav tm="0">
                                          <p:val>
                                            <p:strVal val="0-#ppt_w/2"/>
                                          </p:val>
                                        </p:tav>
                                        <p:tav tm="100000">
                                          <p:val>
                                            <p:strVal val="#ppt_x"/>
                                          </p:val>
                                        </p:tav>
                                      </p:tavLst>
                                    </p:anim>
                                    <p:anim calcmode="lin" valueType="num">
                                      <p:cBhvr additive="base">
                                        <p:cTn id="23"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ctrTitle"/>
          </p:nvPr>
        </p:nvSpPr>
        <p:spPr>
          <a:xfrm>
            <a:off x="1167494" y="252549"/>
            <a:ext cx="6220278" cy="1387065"/>
          </a:xfrm>
        </p:spPr>
        <p:txBody>
          <a:bodyPr/>
          <a:lstStyle/>
          <a:p>
            <a:r>
              <a:rPr lang="en-US" sz="6000" dirty="0">
                <a:latin typeface="Arial Rounded MT Bold" panose="020F0704030504030204" pitchFamily="34" charset="0"/>
              </a:rPr>
              <a:t>Features</a:t>
            </a:r>
          </a:p>
        </p:txBody>
      </p:sp>
      <p:sp>
        <p:nvSpPr>
          <p:cNvPr id="2" name="Content Placeholder 1">
            <a:extLst>
              <a:ext uri="{FF2B5EF4-FFF2-40B4-BE49-F238E27FC236}">
                <a16:creationId xmlns:a16="http://schemas.microsoft.com/office/drawing/2014/main" id="{0646C3FB-49D6-438F-AFED-27ED113621FF}"/>
              </a:ext>
            </a:extLst>
          </p:cNvPr>
          <p:cNvSpPr>
            <a:spLocks noGrp="1"/>
          </p:cNvSpPr>
          <p:nvPr>
            <p:ph type="subTitle" idx="1"/>
          </p:nvPr>
        </p:nvSpPr>
        <p:spPr>
          <a:xfrm>
            <a:off x="1167493" y="2007476"/>
            <a:ext cx="6220277" cy="4597975"/>
          </a:xfrm>
        </p:spPr>
        <p:txBody>
          <a:bodyPr>
            <a:normAutofit/>
          </a:bodyPr>
          <a:lstStyle/>
          <a:p>
            <a:r>
              <a:rPr lang="en-IN" sz="4000" dirty="0">
                <a:latin typeface="Georgia Pro Cond Semibold" panose="02040706050405020303" pitchFamily="18" charset="0"/>
                <a:ea typeface="Cambria" panose="02040503050406030204" pitchFamily="18" charset="0"/>
              </a:rPr>
              <a:t>Modules</a:t>
            </a:r>
          </a:p>
          <a:p>
            <a:pPr marL="800100" lvl="1" indent="-342900" algn="just">
              <a:lnSpc>
                <a:spcPct val="100000"/>
              </a:lnSpc>
              <a:buFont typeface="Wingdings" panose="05000000000000000000" pitchFamily="2" charset="2"/>
              <a:buChar char="Ø"/>
            </a:pPr>
            <a:r>
              <a:rPr lang="en-IN" sz="2800" dirty="0">
                <a:latin typeface="Century Schoolbook" panose="02040604050505020304" pitchFamily="18" charset="0"/>
                <a:ea typeface="Cambria" panose="02040503050406030204" pitchFamily="18" charset="0"/>
              </a:rPr>
              <a:t>Homepage</a:t>
            </a:r>
          </a:p>
          <a:p>
            <a:pPr marL="800100" lvl="1" indent="-342900" algn="just">
              <a:lnSpc>
                <a:spcPct val="100000"/>
              </a:lnSpc>
              <a:buFont typeface="Wingdings" panose="05000000000000000000" pitchFamily="2" charset="2"/>
              <a:buChar char="Ø"/>
            </a:pPr>
            <a:r>
              <a:rPr lang="en-IN" sz="2800" dirty="0">
                <a:latin typeface="Century Schoolbook" panose="02040604050505020304" pitchFamily="18" charset="0"/>
                <a:ea typeface="Cambria" panose="02040503050406030204" pitchFamily="18" charset="0"/>
              </a:rPr>
              <a:t>Register /Login</a:t>
            </a:r>
          </a:p>
          <a:p>
            <a:pPr marL="800100" lvl="1" indent="-342900" algn="just">
              <a:lnSpc>
                <a:spcPct val="100000"/>
              </a:lnSpc>
              <a:buFont typeface="Wingdings" panose="05000000000000000000" pitchFamily="2" charset="2"/>
              <a:buChar char="Ø"/>
            </a:pPr>
            <a:r>
              <a:rPr lang="en-IN" sz="2800" dirty="0">
                <a:latin typeface="Century Schoolbook" panose="02040604050505020304" pitchFamily="18" charset="0"/>
                <a:ea typeface="Cambria" panose="02040503050406030204" pitchFamily="18" charset="0"/>
              </a:rPr>
              <a:t>Admin</a:t>
            </a:r>
          </a:p>
          <a:p>
            <a:pPr marL="800100" lvl="1" indent="-342900" algn="just">
              <a:lnSpc>
                <a:spcPct val="100000"/>
              </a:lnSpc>
              <a:buFont typeface="Wingdings" panose="05000000000000000000" pitchFamily="2" charset="2"/>
              <a:buChar char="Ø"/>
            </a:pPr>
            <a:r>
              <a:rPr lang="en-IN" sz="2800" dirty="0">
                <a:latin typeface="Century Schoolbook" panose="02040604050505020304" pitchFamily="18" charset="0"/>
                <a:ea typeface="Cambria" panose="02040503050406030204" pitchFamily="18" charset="0"/>
              </a:rPr>
              <a:t>User</a:t>
            </a:r>
          </a:p>
          <a:p>
            <a:pPr marL="800100" lvl="1" indent="-342900" algn="just">
              <a:lnSpc>
                <a:spcPct val="100000"/>
              </a:lnSpc>
              <a:buFont typeface="Wingdings" panose="05000000000000000000" pitchFamily="2" charset="2"/>
              <a:buChar char="Ø"/>
            </a:pPr>
            <a:r>
              <a:rPr lang="en-IN" sz="2800" dirty="0">
                <a:latin typeface="Century Schoolbook" panose="02040604050505020304" pitchFamily="18" charset="0"/>
                <a:ea typeface="Cambria" panose="02040503050406030204" pitchFamily="18" charset="0"/>
              </a:rPr>
              <a:t>Filter</a:t>
            </a:r>
          </a:p>
          <a:p>
            <a:pPr marL="800100" lvl="1" indent="-342900" algn="just">
              <a:lnSpc>
                <a:spcPct val="100000"/>
              </a:lnSpc>
              <a:buFont typeface="Wingdings" panose="05000000000000000000" pitchFamily="2" charset="2"/>
              <a:buChar char="Ø"/>
            </a:pPr>
            <a:r>
              <a:rPr lang="en-IN" sz="2800" dirty="0">
                <a:latin typeface="Century Schoolbook" panose="02040604050505020304" pitchFamily="18" charset="0"/>
                <a:ea typeface="Cambria" panose="02040503050406030204" pitchFamily="18" charset="0"/>
              </a:rPr>
              <a:t>Category</a:t>
            </a:r>
          </a:p>
          <a:p>
            <a:pPr marL="800100" lvl="1" indent="-342900" algn="just">
              <a:lnSpc>
                <a:spcPct val="100000"/>
              </a:lnSpc>
              <a:buFont typeface="Wingdings" panose="05000000000000000000" pitchFamily="2" charset="2"/>
              <a:buChar char="Ø"/>
            </a:pPr>
            <a:r>
              <a:rPr lang="en-IN" sz="2800" dirty="0">
                <a:latin typeface="Century Schoolbook" panose="02040604050505020304" pitchFamily="18" charset="0"/>
                <a:ea typeface="Cambria" panose="02040503050406030204" pitchFamily="18" charset="0"/>
              </a:rPr>
              <a:t>Cart</a:t>
            </a:r>
          </a:p>
        </p:txBody>
      </p:sp>
    </p:spTree>
    <p:extLst>
      <p:ext uri="{BB962C8B-B14F-4D97-AF65-F5344CB8AC3E}">
        <p14:creationId xmlns:p14="http://schemas.microsoft.com/office/powerpoint/2010/main" val="2529338794"/>
      </p:ext>
    </p:extLst>
  </p:cSld>
  <p:clrMapOvr>
    <a:masterClrMapping/>
  </p:clrMapOvr>
  <mc:AlternateContent xmlns:mc="http://schemas.openxmlformats.org/markup-compatibility/2006">
    <mc:Choice xmlns:p15="http://schemas.microsoft.com/office/powerpoint/2012/main" Requires="p15">
      <p:transition spd="slow">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47" presetClass="entr" presetSubtype="0" fill="hold" grpId="0" nodeType="withEffect">
                                  <p:stCondLst>
                                    <p:cond delay="25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fade">
                                      <p:cBhvr>
                                        <p:cTn id="11" dur="1000"/>
                                        <p:tgtEl>
                                          <p:spTgt spid="2">
                                            <p:txEl>
                                              <p:pRg st="0" end="0"/>
                                            </p:txEl>
                                          </p:spTgt>
                                        </p:tgtEl>
                                      </p:cBhvr>
                                    </p:animEffect>
                                    <p:anim calcmode="lin" valueType="num">
                                      <p:cBhvr>
                                        <p:cTn id="1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4" presetID="47" presetClass="entr" presetSubtype="0" fill="hold" grpId="0" nodeType="withEffect">
                                  <p:stCondLst>
                                    <p:cond delay="25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fade">
                                      <p:cBhvr>
                                        <p:cTn id="16" dur="1000"/>
                                        <p:tgtEl>
                                          <p:spTgt spid="2">
                                            <p:txEl>
                                              <p:pRg st="1" end="1"/>
                                            </p:txEl>
                                          </p:spTgt>
                                        </p:tgtEl>
                                      </p:cBhvr>
                                    </p:animEffect>
                                    <p:anim calcmode="lin" valueType="num">
                                      <p:cBhvr>
                                        <p:cTn id="1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25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25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fade">
                                      <p:cBhvr>
                                        <p:cTn id="26" dur="1000"/>
                                        <p:tgtEl>
                                          <p:spTgt spid="2">
                                            <p:txEl>
                                              <p:pRg st="3" end="3"/>
                                            </p:txEl>
                                          </p:spTgt>
                                        </p:tgtEl>
                                      </p:cBhvr>
                                    </p:animEffect>
                                    <p:anim calcmode="lin" valueType="num">
                                      <p:cBhvr>
                                        <p:cTn id="27"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250"/>
                                  </p:stCondLst>
                                  <p:childTnLst>
                                    <p:set>
                                      <p:cBhvr>
                                        <p:cTn id="30" dur="1" fill="hold">
                                          <p:stCondLst>
                                            <p:cond delay="0"/>
                                          </p:stCondLst>
                                        </p:cTn>
                                        <p:tgtEl>
                                          <p:spTgt spid="2">
                                            <p:txEl>
                                              <p:pRg st="4" end="4"/>
                                            </p:txEl>
                                          </p:spTgt>
                                        </p:tgtEl>
                                        <p:attrNameLst>
                                          <p:attrName>style.visibility</p:attrName>
                                        </p:attrNameLst>
                                      </p:cBhvr>
                                      <p:to>
                                        <p:strVal val="visible"/>
                                      </p:to>
                                    </p:set>
                                    <p:animEffect transition="in" filter="fade">
                                      <p:cBhvr>
                                        <p:cTn id="31" dur="1000"/>
                                        <p:tgtEl>
                                          <p:spTgt spid="2">
                                            <p:txEl>
                                              <p:pRg st="4" end="4"/>
                                            </p:txEl>
                                          </p:spTgt>
                                        </p:tgtEl>
                                      </p:cBhvr>
                                    </p:animEffect>
                                    <p:anim calcmode="lin" valueType="num">
                                      <p:cBhvr>
                                        <p:cTn id="3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4" end="4"/>
                                            </p:txEl>
                                          </p:spTgt>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250"/>
                                  </p:stCondLst>
                                  <p:childTnLst>
                                    <p:set>
                                      <p:cBhvr>
                                        <p:cTn id="35" dur="1" fill="hold">
                                          <p:stCondLst>
                                            <p:cond delay="0"/>
                                          </p:stCondLst>
                                        </p:cTn>
                                        <p:tgtEl>
                                          <p:spTgt spid="2">
                                            <p:txEl>
                                              <p:pRg st="5" end="5"/>
                                            </p:txEl>
                                          </p:spTgt>
                                        </p:tgtEl>
                                        <p:attrNameLst>
                                          <p:attrName>style.visibility</p:attrName>
                                        </p:attrNameLst>
                                      </p:cBhvr>
                                      <p:to>
                                        <p:strVal val="visible"/>
                                      </p:to>
                                    </p:set>
                                    <p:animEffect transition="in" filter="fade">
                                      <p:cBhvr>
                                        <p:cTn id="36" dur="1000"/>
                                        <p:tgtEl>
                                          <p:spTgt spid="2">
                                            <p:txEl>
                                              <p:pRg st="5" end="5"/>
                                            </p:txEl>
                                          </p:spTgt>
                                        </p:tgtEl>
                                      </p:cBhvr>
                                    </p:animEffect>
                                    <p:anim calcmode="lin" valueType="num">
                                      <p:cBhvr>
                                        <p:cTn id="37"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5" end="5"/>
                                            </p:txEl>
                                          </p:spTgt>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250"/>
                                  </p:stCondLst>
                                  <p:childTnLst>
                                    <p:set>
                                      <p:cBhvr>
                                        <p:cTn id="40" dur="1" fill="hold">
                                          <p:stCondLst>
                                            <p:cond delay="0"/>
                                          </p:stCondLst>
                                        </p:cTn>
                                        <p:tgtEl>
                                          <p:spTgt spid="2">
                                            <p:txEl>
                                              <p:pRg st="6" end="6"/>
                                            </p:txEl>
                                          </p:spTgt>
                                        </p:tgtEl>
                                        <p:attrNameLst>
                                          <p:attrName>style.visibility</p:attrName>
                                        </p:attrNameLst>
                                      </p:cBhvr>
                                      <p:to>
                                        <p:strVal val="visible"/>
                                      </p:to>
                                    </p:set>
                                    <p:animEffect transition="in" filter="fade">
                                      <p:cBhvr>
                                        <p:cTn id="41" dur="1000"/>
                                        <p:tgtEl>
                                          <p:spTgt spid="2">
                                            <p:txEl>
                                              <p:pRg st="6" end="6"/>
                                            </p:txEl>
                                          </p:spTgt>
                                        </p:tgtEl>
                                      </p:cBhvr>
                                    </p:animEffect>
                                    <p:anim calcmode="lin" valueType="num">
                                      <p:cBhvr>
                                        <p:cTn id="4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250"/>
                                  </p:stCondLst>
                                  <p:childTnLst>
                                    <p:set>
                                      <p:cBhvr>
                                        <p:cTn id="45" dur="1" fill="hold">
                                          <p:stCondLst>
                                            <p:cond delay="0"/>
                                          </p:stCondLst>
                                        </p:cTn>
                                        <p:tgtEl>
                                          <p:spTgt spid="2">
                                            <p:txEl>
                                              <p:pRg st="7" end="7"/>
                                            </p:txEl>
                                          </p:spTgt>
                                        </p:tgtEl>
                                        <p:attrNameLst>
                                          <p:attrName>style.visibility</p:attrName>
                                        </p:attrNameLst>
                                      </p:cBhvr>
                                      <p:to>
                                        <p:strVal val="visible"/>
                                      </p:to>
                                    </p:set>
                                    <p:animEffect transition="in" filter="fade">
                                      <p:cBhvr>
                                        <p:cTn id="46" dur="1000"/>
                                        <p:tgtEl>
                                          <p:spTgt spid="2">
                                            <p:txEl>
                                              <p:pRg st="7" end="7"/>
                                            </p:txEl>
                                          </p:spTgt>
                                        </p:tgtEl>
                                      </p:cBhvr>
                                    </p:animEffect>
                                    <p:anim calcmode="lin" valueType="num">
                                      <p:cBhvr>
                                        <p:cTn id="4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title"/>
          </p:nvPr>
        </p:nvSpPr>
        <p:spPr>
          <a:xfrm>
            <a:off x="1167492" y="457200"/>
            <a:ext cx="9692640" cy="656897"/>
          </a:xfrm>
        </p:spPr>
        <p:txBody>
          <a:bodyPr/>
          <a:lstStyle/>
          <a:p>
            <a:r>
              <a:rPr lang="en-US" dirty="0"/>
              <a:t>Data Flow Chart (User)</a:t>
            </a:r>
          </a:p>
        </p:txBody>
      </p:sp>
      <p:pic>
        <p:nvPicPr>
          <p:cNvPr id="8" name="Picture 7">
            <a:extLst>
              <a:ext uri="{FF2B5EF4-FFF2-40B4-BE49-F238E27FC236}">
                <a16:creationId xmlns:a16="http://schemas.microsoft.com/office/drawing/2014/main" id="{EA114C00-9ED8-419F-B3DA-25F2AA41CA96}"/>
              </a:ext>
            </a:extLst>
          </p:cNvPr>
          <p:cNvPicPr>
            <a:picLocks noChangeAspect="1"/>
          </p:cNvPicPr>
          <p:nvPr/>
        </p:nvPicPr>
        <p:blipFill rotWithShape="1">
          <a:blip r:embed="rId3"/>
          <a:srcRect l="9576" t="23601" r="32414" b="11418"/>
          <a:stretch/>
        </p:blipFill>
        <p:spPr>
          <a:xfrm>
            <a:off x="1587063" y="1282262"/>
            <a:ext cx="9049406" cy="481373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1171533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AA0A48-6270-4D69-8C3D-6D861868AD2B}"/>
              </a:ext>
            </a:extLst>
          </p:cNvPr>
          <p:cNvSpPr>
            <a:spLocks noGrp="1"/>
          </p:cNvSpPr>
          <p:nvPr>
            <p:ph type="title"/>
          </p:nvPr>
        </p:nvSpPr>
        <p:spPr>
          <a:xfrm>
            <a:off x="1167492" y="136526"/>
            <a:ext cx="9779183" cy="714812"/>
          </a:xfrm>
        </p:spPr>
        <p:txBody>
          <a:bodyPr/>
          <a:lstStyle/>
          <a:p>
            <a:r>
              <a:rPr lang="en-US" dirty="0"/>
              <a:t>Data Flow Chart (Admin)</a:t>
            </a:r>
            <a:endParaRPr lang="en-IN" dirty="0"/>
          </a:p>
        </p:txBody>
      </p:sp>
      <p:pic>
        <p:nvPicPr>
          <p:cNvPr id="10" name="Content Placeholder 9">
            <a:extLst>
              <a:ext uri="{FF2B5EF4-FFF2-40B4-BE49-F238E27FC236}">
                <a16:creationId xmlns:a16="http://schemas.microsoft.com/office/drawing/2014/main" id="{767AE2FC-E48A-4D17-8DB9-37CEB763B337}"/>
              </a:ext>
            </a:extLst>
          </p:cNvPr>
          <p:cNvPicPr>
            <a:picLocks noGrp="1" noChangeAspect="1"/>
          </p:cNvPicPr>
          <p:nvPr>
            <p:ph idx="1"/>
          </p:nvPr>
        </p:nvPicPr>
        <p:blipFill rotWithShape="1">
          <a:blip r:embed="rId3"/>
          <a:srcRect l="8509" t="11763" r="25119" b="11136"/>
          <a:stretch/>
        </p:blipFill>
        <p:spPr>
          <a:xfrm>
            <a:off x="1167491" y="1086815"/>
            <a:ext cx="9353363" cy="521903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26593962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1167492" y="526308"/>
            <a:ext cx="9601200" cy="851446"/>
          </a:xfrm>
        </p:spPr>
        <p:txBody>
          <a:bodyPr/>
          <a:lstStyle/>
          <a:p>
            <a:r>
              <a:rPr lang="en-IN" sz="5600" dirty="0">
                <a:latin typeface="Arial Rounded MT Bold" panose="020F0704030504030204" pitchFamily="34" charset="0"/>
              </a:rPr>
              <a:t>Advantages </a:t>
            </a:r>
            <a:endParaRPr lang="en-US" sz="5600" dirty="0">
              <a:latin typeface="Arial Rounded MT Bold" panose="020F0704030504030204" pitchFamily="34" charset="0"/>
            </a:endParaRPr>
          </a:p>
        </p:txBody>
      </p:sp>
      <p:sp>
        <p:nvSpPr>
          <p:cNvPr id="13" name="Object 37">
            <a:extLst>
              <a:ext uri="{FF2B5EF4-FFF2-40B4-BE49-F238E27FC236}">
                <a16:creationId xmlns:a16="http://schemas.microsoft.com/office/drawing/2014/main" id="{3DB9EDFD-26E7-45C4-BBB3-8E1783950ED4}"/>
              </a:ext>
            </a:extLst>
          </p:cNvPr>
          <p:cNvSpPr txBox="1"/>
          <p:nvPr/>
        </p:nvSpPr>
        <p:spPr>
          <a:xfrm>
            <a:off x="1167492" y="2171766"/>
            <a:ext cx="11423670" cy="461665"/>
          </a:xfrm>
          <a:prstGeom prst="rect">
            <a:avLst/>
          </a:prstGeom>
          <a:noFill/>
        </p:spPr>
        <p:txBody>
          <a:bodyPr wrap="square" rtlCol="0" anchor="ctr">
            <a:spAutoFit/>
          </a:bodyPr>
          <a:lstStyle/>
          <a:p>
            <a:pPr marL="342900" indent="-342900">
              <a:buFont typeface="Wingdings" panose="05000000000000000000" pitchFamily="2" charset="2"/>
              <a:buChar char="Ø"/>
            </a:pPr>
            <a:r>
              <a:rPr lang="en-US" sz="2400" dirty="0">
                <a:latin typeface="Georgia Pro Cond Semibold" panose="02040706050405020303" pitchFamily="18" charset="0"/>
              </a:rPr>
              <a:t>Faster Buying and selling procedure , as well as  easy to find Products</a:t>
            </a:r>
          </a:p>
        </p:txBody>
      </p:sp>
      <p:sp>
        <p:nvSpPr>
          <p:cNvPr id="14" name="Object 38">
            <a:extLst>
              <a:ext uri="{FF2B5EF4-FFF2-40B4-BE49-F238E27FC236}">
                <a16:creationId xmlns:a16="http://schemas.microsoft.com/office/drawing/2014/main" id="{179A2BDA-EA6D-480A-B4D3-7E9DFA3B8F66}"/>
              </a:ext>
            </a:extLst>
          </p:cNvPr>
          <p:cNvSpPr txBox="1"/>
          <p:nvPr/>
        </p:nvSpPr>
        <p:spPr>
          <a:xfrm>
            <a:off x="1167492" y="3869690"/>
            <a:ext cx="11610478" cy="461665"/>
          </a:xfrm>
          <a:prstGeom prst="rect">
            <a:avLst/>
          </a:prstGeom>
          <a:noFill/>
        </p:spPr>
        <p:txBody>
          <a:bodyPr wrap="square" rtlCol="0" anchor="ctr">
            <a:spAutoFit/>
          </a:bodyPr>
          <a:lstStyle/>
          <a:p>
            <a:pPr marL="342900" indent="-342900">
              <a:buFont typeface="Wingdings" panose="05000000000000000000" pitchFamily="2" charset="2"/>
              <a:buChar char="Ø"/>
            </a:pPr>
            <a:r>
              <a:rPr lang="en-US" sz="2400" dirty="0">
                <a:latin typeface="Georgia Pro Cond Semibold" panose="02040706050405020303" pitchFamily="18" charset="0"/>
              </a:rPr>
              <a:t>More reach to customer ,there  is no theoretical </a:t>
            </a:r>
            <a:r>
              <a:rPr lang="en-IN" sz="2400" dirty="0">
                <a:latin typeface="Georgia Pro Cond Semibold" panose="02040706050405020303" pitchFamily="18" charset="0"/>
              </a:rPr>
              <a:t>geographic limitations </a:t>
            </a:r>
            <a:endParaRPr lang="en-US" sz="2400" dirty="0">
              <a:latin typeface="Georgia Pro Cond Semibold" panose="02040706050405020303" pitchFamily="18" charset="0"/>
            </a:endParaRPr>
          </a:p>
        </p:txBody>
      </p:sp>
      <p:sp>
        <p:nvSpPr>
          <p:cNvPr id="15" name="Object 39">
            <a:extLst>
              <a:ext uri="{FF2B5EF4-FFF2-40B4-BE49-F238E27FC236}">
                <a16:creationId xmlns:a16="http://schemas.microsoft.com/office/drawing/2014/main" id="{BDBF903F-2D14-4626-8DAA-5CA05CDCA278}"/>
              </a:ext>
            </a:extLst>
          </p:cNvPr>
          <p:cNvSpPr txBox="1"/>
          <p:nvPr/>
        </p:nvSpPr>
        <p:spPr>
          <a:xfrm>
            <a:off x="1167492" y="3020728"/>
            <a:ext cx="11423670" cy="461665"/>
          </a:xfrm>
          <a:prstGeom prst="rect">
            <a:avLst/>
          </a:prstGeom>
          <a:noFill/>
        </p:spPr>
        <p:txBody>
          <a:bodyPr wrap="square" rtlCol="0" anchor="ctr">
            <a:spAutoFit/>
          </a:bodyPr>
          <a:lstStyle/>
          <a:p>
            <a:pPr marL="342900" indent="-342900">
              <a:buFont typeface="Wingdings" panose="05000000000000000000" pitchFamily="2" charset="2"/>
              <a:buChar char="Ø"/>
            </a:pPr>
            <a:r>
              <a:rPr lang="en-US" sz="2400" dirty="0">
                <a:latin typeface="Georgia Pro Cond Semibold" panose="02040706050405020303" pitchFamily="18" charset="0"/>
              </a:rPr>
              <a:t>Low operational costs and better  quality of services</a:t>
            </a:r>
          </a:p>
        </p:txBody>
      </p:sp>
      <p:sp>
        <p:nvSpPr>
          <p:cNvPr id="16" name="TextBox 15">
            <a:extLst>
              <a:ext uri="{FF2B5EF4-FFF2-40B4-BE49-F238E27FC236}">
                <a16:creationId xmlns:a16="http://schemas.microsoft.com/office/drawing/2014/main" id="{679A8257-0D8F-4B44-A4ED-EA3836D66BDB}"/>
              </a:ext>
            </a:extLst>
          </p:cNvPr>
          <p:cNvSpPr txBox="1"/>
          <p:nvPr/>
        </p:nvSpPr>
        <p:spPr>
          <a:xfrm>
            <a:off x="1167492" y="4718652"/>
            <a:ext cx="5638800"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dirty="0">
                <a:latin typeface="Georgia Pro Cond Semibold" panose="02040706050405020303" pitchFamily="18" charset="0"/>
              </a:rPr>
              <a:t>Easy to  start  and manage access</a:t>
            </a:r>
          </a:p>
        </p:txBody>
      </p:sp>
    </p:spTree>
    <p:extLst>
      <p:ext uri="{BB962C8B-B14F-4D97-AF65-F5344CB8AC3E}">
        <p14:creationId xmlns:p14="http://schemas.microsoft.com/office/powerpoint/2010/main" val="265210288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25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5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75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136526"/>
            <a:ext cx="9601200" cy="935529"/>
          </a:xfrm>
        </p:spPr>
        <p:txBody>
          <a:bodyPr/>
          <a:lstStyle/>
          <a:p>
            <a:r>
              <a:rPr lang="en-IN" sz="5400" dirty="0">
                <a:latin typeface="Arial Rounded MT Bold" panose="020F0704030504030204" pitchFamily="34" charset="0"/>
              </a:rPr>
              <a:t>Disadvantages </a:t>
            </a:r>
            <a:endParaRPr lang="en-US" sz="5400"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
          </p:nvPr>
        </p:nvSpPr>
        <p:spPr>
          <a:xfrm>
            <a:off x="1167493" y="2023984"/>
            <a:ext cx="10498990" cy="3332832"/>
          </a:xfrm>
        </p:spPr>
        <p:txBody>
          <a:bodyPr>
            <a:noAutofit/>
          </a:bodyPr>
          <a:lstStyle/>
          <a:p>
            <a:pPr marL="342900" indent="-342900">
              <a:buFont typeface="Wingdings" panose="05000000000000000000" pitchFamily="2" charset="2"/>
              <a:buChar char="Ø"/>
            </a:pPr>
            <a:r>
              <a:rPr lang="en-IN" sz="2400" dirty="0">
                <a:latin typeface="Georgia Pro Cond Semibold" panose="02040706050405020303" pitchFamily="18" charset="0"/>
              </a:rPr>
              <a:t>Required internet connection .</a:t>
            </a:r>
          </a:p>
          <a:p>
            <a:endParaRPr lang="en-IN" sz="2400" dirty="0">
              <a:latin typeface="Georgia Pro Cond Semibold" panose="02040706050405020303" pitchFamily="18" charset="0"/>
            </a:endParaRPr>
          </a:p>
          <a:p>
            <a:pPr marL="342900" indent="-342900">
              <a:buFont typeface="Wingdings" panose="05000000000000000000" pitchFamily="2" charset="2"/>
              <a:buChar char="Ø"/>
            </a:pPr>
            <a:r>
              <a:rPr lang="en-US" sz="2400" b="1" i="0" dirty="0">
                <a:effectLst/>
                <a:latin typeface="Georgia Pro Cond Semibold" panose="02040706050405020303" pitchFamily="18" charset="0"/>
              </a:rPr>
              <a:t>Customers Cannot Experience Products Before Purchasing</a:t>
            </a:r>
          </a:p>
          <a:p>
            <a:endParaRPr lang="en-US" sz="2400" b="1" i="0" dirty="0">
              <a:effectLst/>
              <a:latin typeface="Georgia Pro Cond Semibold" panose="02040706050405020303" pitchFamily="18" charset="0"/>
            </a:endParaRPr>
          </a:p>
          <a:p>
            <a:pPr marL="342900" indent="-342900">
              <a:buFont typeface="Wingdings" panose="05000000000000000000" pitchFamily="2" charset="2"/>
              <a:buChar char="Ø"/>
            </a:pPr>
            <a:r>
              <a:rPr lang="en-IN" sz="2400" dirty="0">
                <a:latin typeface="Georgia Pro Cond Semibold" panose="02040706050405020303" pitchFamily="18" charset="0"/>
              </a:rPr>
              <a:t>Shipping Delay , Delivery not on time</a:t>
            </a:r>
          </a:p>
          <a:p>
            <a:r>
              <a:rPr lang="en-IN" sz="2400" dirty="0">
                <a:latin typeface="Georgia Pro Cond Semibold" panose="02040706050405020303" pitchFamily="18" charset="0"/>
              </a:rPr>
              <a:t>	</a:t>
            </a:r>
          </a:p>
          <a:p>
            <a:pPr marL="342900" indent="-342900">
              <a:buFont typeface="Wingdings" panose="05000000000000000000" pitchFamily="2" charset="2"/>
              <a:buChar char="Ø"/>
            </a:pPr>
            <a:r>
              <a:rPr lang="en-IN" sz="2400" dirty="0">
                <a:latin typeface="Georgia Pro Cond Semibold" panose="02040706050405020303" pitchFamily="18" charset="0"/>
              </a:rPr>
              <a:t>There is possibility of credit card number theft</a:t>
            </a:r>
          </a:p>
        </p:txBody>
      </p:sp>
    </p:spTree>
    <p:extLst>
      <p:ext uri="{BB962C8B-B14F-4D97-AF65-F5344CB8AC3E}">
        <p14:creationId xmlns:p14="http://schemas.microsoft.com/office/powerpoint/2010/main" val="36264958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0" presetID="2" presetClass="entr" presetSubtype="9"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1000" fill="hold"/>
                                        <p:tgtEl>
                                          <p:spTgt spid="2"/>
                                        </p:tgtEl>
                                        <p:attrNameLst>
                                          <p:attrName>ppt_x</p:attrName>
                                        </p:attrNameLst>
                                      </p:cBhvr>
                                      <p:tavLst>
                                        <p:tav tm="0">
                                          <p:val>
                                            <p:strVal val="0-#ppt_w/2"/>
                                          </p:val>
                                        </p:tav>
                                        <p:tav tm="100000">
                                          <p:val>
                                            <p:strVal val="#ppt_x"/>
                                          </p:val>
                                        </p:tav>
                                      </p:tavLst>
                                    </p:anim>
                                    <p:anim calcmode="lin" valueType="num">
                                      <p:cBhvr additive="base">
                                        <p:cTn id="33" dur="1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610443" y="635876"/>
            <a:ext cx="9692640" cy="719959"/>
          </a:xfrm>
        </p:spPr>
        <p:txBody>
          <a:bodyPr/>
          <a:lstStyle/>
          <a:p>
            <a:r>
              <a:rPr lang="en-US" sz="6000" dirty="0">
                <a:latin typeface="Arial Rounded MT Bold" panose="020F0704030504030204" pitchFamily="34" charset="0"/>
              </a:rPr>
              <a:t>Future Plans</a:t>
            </a:r>
          </a:p>
        </p:txBody>
      </p:sp>
      <p:sp>
        <p:nvSpPr>
          <p:cNvPr id="8" name="Content Placeholder 7">
            <a:extLst>
              <a:ext uri="{FF2B5EF4-FFF2-40B4-BE49-F238E27FC236}">
                <a16:creationId xmlns:a16="http://schemas.microsoft.com/office/drawing/2014/main" id="{B2C87192-3D88-4DC5-85F8-9CDFD0641084}"/>
              </a:ext>
            </a:extLst>
          </p:cNvPr>
          <p:cNvSpPr>
            <a:spLocks noGrp="1"/>
          </p:cNvSpPr>
          <p:nvPr>
            <p:ph idx="10"/>
          </p:nvPr>
        </p:nvSpPr>
        <p:spPr>
          <a:xfrm>
            <a:off x="1724540" y="1698678"/>
            <a:ext cx="10656645" cy="3890543"/>
          </a:xfrm>
        </p:spPr>
        <p:txBody>
          <a:bodyPr/>
          <a:lstStyle/>
          <a:p>
            <a:pPr marL="457200" indent="-457200">
              <a:buFont typeface="Wingdings" panose="05000000000000000000" pitchFamily="2" charset="2"/>
              <a:buChar char="q"/>
            </a:pPr>
            <a:r>
              <a:rPr lang="en-IN" sz="2400" dirty="0">
                <a:latin typeface="Century Schoolbook" panose="02040604050505020304" pitchFamily="18" charset="0"/>
              </a:rPr>
              <a:t>GUI  Modifications (  More Use Friendly )</a:t>
            </a:r>
          </a:p>
          <a:p>
            <a:endParaRPr lang="en-IN" sz="2400" dirty="0">
              <a:latin typeface="Century Schoolbook" panose="02040604050505020304" pitchFamily="18" charset="0"/>
            </a:endParaRPr>
          </a:p>
          <a:p>
            <a:pPr marL="457200" indent="-457200">
              <a:buFont typeface="Wingdings" panose="05000000000000000000" pitchFamily="2" charset="2"/>
              <a:buChar char="q"/>
            </a:pPr>
            <a:r>
              <a:rPr lang="en-IN" sz="2400" dirty="0">
                <a:latin typeface="Century Schoolbook" panose="02040604050505020304" pitchFamily="18" charset="0"/>
              </a:rPr>
              <a:t>User can  sell their products</a:t>
            </a:r>
          </a:p>
          <a:p>
            <a:pPr marL="342900" indent="-342900">
              <a:buFont typeface="Wingdings" panose="05000000000000000000" pitchFamily="2" charset="2"/>
              <a:buChar char="q"/>
            </a:pPr>
            <a:endParaRPr lang="en-IN" sz="2400" dirty="0">
              <a:latin typeface="Century Schoolbook" panose="02040604050505020304" pitchFamily="18" charset="0"/>
            </a:endParaRPr>
          </a:p>
          <a:p>
            <a:pPr marL="342900" indent="-342900">
              <a:buFont typeface="Wingdings" panose="05000000000000000000" pitchFamily="2" charset="2"/>
              <a:buChar char="q"/>
            </a:pPr>
            <a:r>
              <a:rPr lang="en-IN" sz="2400" dirty="0">
                <a:latin typeface="Century Schoolbook" panose="02040604050505020304" pitchFamily="18" charset="0"/>
              </a:rPr>
              <a:t>User can Login with their google with authentication</a:t>
            </a:r>
          </a:p>
          <a:p>
            <a:pPr marL="342900" indent="-342900">
              <a:buFont typeface="Wingdings" panose="05000000000000000000" pitchFamily="2" charset="2"/>
              <a:buChar char="q"/>
            </a:pPr>
            <a:endParaRPr lang="en-IN" sz="2400" dirty="0">
              <a:latin typeface="Century Schoolbook" panose="02040604050505020304" pitchFamily="18" charset="0"/>
            </a:endParaRPr>
          </a:p>
          <a:p>
            <a:pPr marL="342900" indent="-342900">
              <a:buFont typeface="Wingdings" panose="05000000000000000000" pitchFamily="2" charset="2"/>
              <a:buChar char="q"/>
            </a:pPr>
            <a:r>
              <a:rPr lang="en-IN" sz="2400" dirty="0">
                <a:latin typeface="Century Schoolbook" panose="02040604050505020304" pitchFamily="18" charset="0"/>
              </a:rPr>
              <a:t>Update more Filters for easy Getting Products</a:t>
            </a:r>
          </a:p>
          <a:p>
            <a:pPr marL="342900" indent="-342900">
              <a:buFont typeface="Wingdings" panose="05000000000000000000" pitchFamily="2" charset="2"/>
              <a:buChar char="q"/>
            </a:pPr>
            <a:endParaRPr lang="en-IN" sz="2400" dirty="0">
              <a:latin typeface="Century Schoolbook" panose="02040604050505020304" pitchFamily="18" charset="0"/>
            </a:endParaRPr>
          </a:p>
          <a:p>
            <a:pPr marL="342900" indent="-342900">
              <a:buFont typeface="Wingdings" panose="05000000000000000000" pitchFamily="2" charset="2"/>
              <a:buChar char="q"/>
            </a:pPr>
            <a:r>
              <a:rPr lang="en-IN" sz="2400" dirty="0">
                <a:latin typeface="Century Schoolbook" panose="02040604050505020304" pitchFamily="18" charset="0"/>
              </a:rPr>
              <a:t>User can track their Orders</a:t>
            </a:r>
          </a:p>
        </p:txBody>
      </p:sp>
    </p:spTree>
    <p:extLst>
      <p:ext uri="{BB962C8B-B14F-4D97-AF65-F5344CB8AC3E}">
        <p14:creationId xmlns:p14="http://schemas.microsoft.com/office/powerpoint/2010/main" val="90791553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47" presetClass="entr" presetSubtype="0" fill="hold" nodeType="withEffect">
                                  <p:stCondLst>
                                    <p:cond delay="100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fade">
                                      <p:cBhvr>
                                        <p:cTn id="11" dur="1000"/>
                                        <p:tgtEl>
                                          <p:spTgt spid="8">
                                            <p:txEl>
                                              <p:pRg st="0" end="0"/>
                                            </p:txEl>
                                          </p:spTgt>
                                        </p:tgtEl>
                                      </p:cBhvr>
                                    </p:animEffect>
                                    <p:anim calcmode="lin" valueType="num">
                                      <p:cBhvr>
                                        <p:cTn id="12"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175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fade">
                                      <p:cBhvr>
                                        <p:cTn id="16" dur="1000"/>
                                        <p:tgtEl>
                                          <p:spTgt spid="8">
                                            <p:txEl>
                                              <p:pRg st="2" end="2"/>
                                            </p:txEl>
                                          </p:spTgt>
                                        </p:tgtEl>
                                      </p:cBhvr>
                                    </p:animEffect>
                                    <p:anim calcmode="lin" valueType="num">
                                      <p:cBhvr>
                                        <p:cTn id="17"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8"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250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3250"/>
                                  </p:stCondLst>
                                  <p:childTnLst>
                                    <p:set>
                                      <p:cBhvr>
                                        <p:cTn id="25" dur="1" fill="hold">
                                          <p:stCondLst>
                                            <p:cond delay="0"/>
                                          </p:stCondLst>
                                        </p:cTn>
                                        <p:tgtEl>
                                          <p:spTgt spid="8">
                                            <p:txEl>
                                              <p:pRg st="6" end="6"/>
                                            </p:txEl>
                                          </p:spTgt>
                                        </p:tgtEl>
                                        <p:attrNameLst>
                                          <p:attrName>style.visibility</p:attrName>
                                        </p:attrNameLst>
                                      </p:cBhvr>
                                      <p:to>
                                        <p:strVal val="visible"/>
                                      </p:to>
                                    </p:set>
                                    <p:animEffect transition="in" filter="fade">
                                      <p:cBhvr>
                                        <p:cTn id="26" dur="1000"/>
                                        <p:tgtEl>
                                          <p:spTgt spid="8">
                                            <p:txEl>
                                              <p:pRg st="6" end="6"/>
                                            </p:txEl>
                                          </p:spTgt>
                                        </p:tgtEl>
                                      </p:cBhvr>
                                    </p:animEffect>
                                    <p:anim calcmode="lin" valueType="num">
                                      <p:cBhvr>
                                        <p:cTn id="2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4000"/>
                                  </p:stCondLst>
                                  <p:childTnLst>
                                    <p:set>
                                      <p:cBhvr>
                                        <p:cTn id="30" dur="1" fill="hold">
                                          <p:stCondLst>
                                            <p:cond delay="0"/>
                                          </p:stCondLst>
                                        </p:cTn>
                                        <p:tgtEl>
                                          <p:spTgt spid="8">
                                            <p:txEl>
                                              <p:pRg st="8" end="8"/>
                                            </p:txEl>
                                          </p:spTgt>
                                        </p:tgtEl>
                                        <p:attrNameLst>
                                          <p:attrName>style.visibility</p:attrName>
                                        </p:attrNameLst>
                                      </p:cBhvr>
                                      <p:to>
                                        <p:strVal val="visible"/>
                                      </p:to>
                                    </p:set>
                                    <p:animEffect transition="in" filter="fade">
                                      <p:cBhvr>
                                        <p:cTn id="31" dur="1000"/>
                                        <p:tgtEl>
                                          <p:spTgt spid="8">
                                            <p:txEl>
                                              <p:pRg st="8" end="8"/>
                                            </p:txEl>
                                          </p:spTgt>
                                        </p:tgtEl>
                                      </p:cBhvr>
                                    </p:animEffect>
                                    <p:anim calcmode="lin" valueType="num">
                                      <p:cBhvr>
                                        <p:cTn id="32"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9A7421-60AF-44F9-8E68-4DAB9F1BEEFB}"/>
              </a:ext>
            </a:extLst>
          </p:cNvPr>
          <p:cNvSpPr/>
          <p:nvPr/>
        </p:nvSpPr>
        <p:spPr>
          <a:xfrm>
            <a:off x="2181382" y="2515390"/>
            <a:ext cx="7661073" cy="1200329"/>
          </a:xfrm>
          <a:prstGeom prst="rect">
            <a:avLst/>
          </a:prstGeom>
          <a:noFill/>
        </p:spPr>
        <p:txBody>
          <a:bodyPr wrap="none" lIns="91440" tIns="45720" rIns="91440" bIns="45720">
            <a:spAutoFit/>
            <a:scene3d>
              <a:camera prst="perspectiveLeft"/>
              <a:lightRig rig="harsh" dir="t"/>
            </a:scene3d>
            <a:sp3d extrusionH="57150" prstMaterial="matte">
              <a:bevelT w="63500" h="12700" prst="angle"/>
              <a:contourClr>
                <a:schemeClr val="bg1">
                  <a:lumMod val="65000"/>
                </a:schemeClr>
              </a:contourClr>
            </a:sp3d>
          </a:bodyPr>
          <a:lstStyle/>
          <a:p>
            <a:pPr algn="ctr"/>
            <a:r>
              <a:rPr lang="en-US" sz="7200" b="1" cap="none" spc="0" dirty="0">
                <a:ln/>
                <a:solidFill>
                  <a:schemeClr val="tx1">
                    <a:lumMod val="95000"/>
                    <a:lumOff val="5000"/>
                  </a:schemeClr>
                </a:solidFill>
                <a:effectLst>
                  <a:reflection blurRad="6350" stA="50000" endA="300" endPos="50000" dist="60007" dir="5400000" sy="-100000" algn="bl" rotWithShape="0"/>
                </a:effectLst>
                <a:latin typeface="Arial Rounded MT Bold" panose="020F0704030504030204" pitchFamily="34" charset="0"/>
              </a:rPr>
              <a:t>Any </a:t>
            </a:r>
            <a:r>
              <a:rPr lang="en-IN" sz="7200" b="1" cap="none" spc="0" dirty="0">
                <a:ln/>
                <a:solidFill>
                  <a:schemeClr val="tx1">
                    <a:lumMod val="95000"/>
                    <a:lumOff val="5000"/>
                  </a:schemeClr>
                </a:solidFill>
                <a:effectLst>
                  <a:reflection blurRad="6350" stA="50000" endA="300" endPos="50000" dist="60007" dir="5400000" sy="-100000" algn="bl" rotWithShape="0"/>
                </a:effectLst>
                <a:latin typeface="Arial Rounded MT Bold" panose="020F0704030504030204" pitchFamily="34" charset="0"/>
              </a:rPr>
              <a:t>Questions ? </a:t>
            </a:r>
            <a:endParaRPr lang="en-IN" sz="7200" b="1" cap="none" spc="0" dirty="0">
              <a:ln/>
              <a:solidFill>
                <a:schemeClr val="tx1">
                  <a:lumMod val="95000"/>
                  <a:lumOff val="5000"/>
                </a:schemeClr>
              </a:solidFill>
              <a:effectLst>
                <a:reflection blurRad="6350" stA="50000" endA="300" endPos="50000" dist="60007" dir="5400000" sy="-100000" algn="bl" rotWithShape="0"/>
              </a:effectLst>
            </a:endParaRPr>
          </a:p>
        </p:txBody>
      </p:sp>
    </p:spTree>
    <p:extLst>
      <p:ext uri="{BB962C8B-B14F-4D97-AF65-F5344CB8AC3E}">
        <p14:creationId xmlns:p14="http://schemas.microsoft.com/office/powerpoint/2010/main" val="1609673525"/>
      </p:ext>
    </p:extLst>
  </p:cSld>
  <p:clrMapOvr>
    <a:masterClrMapping/>
  </p:clrMapOvr>
  <mc:AlternateContent xmlns:mc="http://schemas.openxmlformats.org/markup-compatibility/2006">
    <mc:Choice xmlns:p15="http://schemas.microsoft.com/office/powerpoint/2012/main" Requires="p15">
      <p:transition spd="slow">
        <p15:prstTrans prst="win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290">
                                          <p:stCondLst>
                                            <p:cond delay="0"/>
                                          </p:stCondLst>
                                        </p:cTn>
                                        <p:tgtEl>
                                          <p:spTgt spid="9"/>
                                        </p:tgtEl>
                                      </p:cBhvr>
                                    </p:animEffect>
                                    <p:anim calcmode="lin" valueType="num">
                                      <p:cBhvr>
                                        <p:cTn id="8" dur="911"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9"/>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9"/>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9"/>
                                        </p:tgtEl>
                                        <p:attrNameLst>
                                          <p:attrName>ppt_y</p:attrName>
                                        </p:attrNameLst>
                                      </p:cBhvr>
                                      <p:tavLst>
                                        <p:tav tm="0" fmla="#ppt_y-sin(pi*$)/81">
                                          <p:val>
                                            <p:fltVal val="0"/>
                                          </p:val>
                                        </p:tav>
                                        <p:tav tm="100000">
                                          <p:val>
                                            <p:fltVal val="1"/>
                                          </p:val>
                                        </p:tav>
                                      </p:tavLst>
                                    </p:anim>
                                    <p:animScale>
                                      <p:cBhvr>
                                        <p:cTn id="13" dur="13">
                                          <p:stCondLst>
                                            <p:cond delay="325"/>
                                          </p:stCondLst>
                                        </p:cTn>
                                        <p:tgtEl>
                                          <p:spTgt spid="9"/>
                                        </p:tgtEl>
                                      </p:cBhvr>
                                      <p:to x="100000" y="60000"/>
                                    </p:animScale>
                                    <p:animScale>
                                      <p:cBhvr>
                                        <p:cTn id="14" dur="83" decel="50000">
                                          <p:stCondLst>
                                            <p:cond delay="338"/>
                                          </p:stCondLst>
                                        </p:cTn>
                                        <p:tgtEl>
                                          <p:spTgt spid="9"/>
                                        </p:tgtEl>
                                      </p:cBhvr>
                                      <p:to x="100000" y="100000"/>
                                    </p:animScale>
                                    <p:animScale>
                                      <p:cBhvr>
                                        <p:cTn id="15" dur="13">
                                          <p:stCondLst>
                                            <p:cond delay="656"/>
                                          </p:stCondLst>
                                        </p:cTn>
                                        <p:tgtEl>
                                          <p:spTgt spid="9"/>
                                        </p:tgtEl>
                                      </p:cBhvr>
                                      <p:to x="100000" y="80000"/>
                                    </p:animScale>
                                    <p:animScale>
                                      <p:cBhvr>
                                        <p:cTn id="16" dur="83" decel="50000">
                                          <p:stCondLst>
                                            <p:cond delay="669"/>
                                          </p:stCondLst>
                                        </p:cTn>
                                        <p:tgtEl>
                                          <p:spTgt spid="9"/>
                                        </p:tgtEl>
                                      </p:cBhvr>
                                      <p:to x="100000" y="100000"/>
                                    </p:animScale>
                                    <p:animScale>
                                      <p:cBhvr>
                                        <p:cTn id="17" dur="13">
                                          <p:stCondLst>
                                            <p:cond delay="821"/>
                                          </p:stCondLst>
                                        </p:cTn>
                                        <p:tgtEl>
                                          <p:spTgt spid="9"/>
                                        </p:tgtEl>
                                      </p:cBhvr>
                                      <p:to x="100000" y="90000"/>
                                    </p:animScale>
                                    <p:animScale>
                                      <p:cBhvr>
                                        <p:cTn id="18" dur="83" decel="50000">
                                          <p:stCondLst>
                                            <p:cond delay="834"/>
                                          </p:stCondLst>
                                        </p:cTn>
                                        <p:tgtEl>
                                          <p:spTgt spid="9"/>
                                        </p:tgtEl>
                                      </p:cBhvr>
                                      <p:to x="100000" y="100000"/>
                                    </p:animScale>
                                    <p:animScale>
                                      <p:cBhvr>
                                        <p:cTn id="19" dur="13">
                                          <p:stCondLst>
                                            <p:cond delay="904"/>
                                          </p:stCondLst>
                                        </p:cTn>
                                        <p:tgtEl>
                                          <p:spTgt spid="9"/>
                                        </p:tgtEl>
                                      </p:cBhvr>
                                      <p:to x="100000" y="95000"/>
                                    </p:animScale>
                                    <p:animScale>
                                      <p:cBhvr>
                                        <p:cTn id="20" dur="83" decel="50000">
                                          <p:stCondLst>
                                            <p:cond delay="917"/>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C4BB2C0-244A-4333-B641-21BE26C0F186}"/>
              </a:ext>
            </a:extLst>
          </p:cNvPr>
          <p:cNvSpPr/>
          <p:nvPr/>
        </p:nvSpPr>
        <p:spPr>
          <a:xfrm>
            <a:off x="1809862" y="2441816"/>
            <a:ext cx="8784565" cy="1569660"/>
          </a:xfrm>
          <a:prstGeom prst="rect">
            <a:avLst/>
          </a:prstGeom>
          <a:noFill/>
        </p:spPr>
        <p:txBody>
          <a:bodyPr wrap="square" lIns="91440" tIns="45720" rIns="91440" bIns="45720">
            <a:spAutoFit/>
          </a:bodyPr>
          <a:lstStyle/>
          <a:p>
            <a:pPr algn="ctr"/>
            <a:r>
              <a:rPr lang="en-IN" sz="9600" dirty="0">
                <a:ln w="0"/>
                <a:effectLst>
                  <a:glow rad="101600">
                    <a:schemeClr val="accent1">
                      <a:satMod val="175000"/>
                      <a:alpha val="40000"/>
                    </a:schemeClr>
                  </a:glow>
                  <a:reflection blurRad="6350" stA="50000" endA="300" endPos="50000" dist="29997" dir="5400000" sy="-100000" algn="bl" rotWithShape="0"/>
                </a:effectLst>
                <a:latin typeface="Arial Rounded MT Bold" panose="020F0704030504030204" pitchFamily="34" charset="0"/>
              </a:rPr>
              <a:t>Thank You</a:t>
            </a:r>
          </a:p>
        </p:txBody>
      </p:sp>
    </p:spTree>
    <p:extLst>
      <p:ext uri="{BB962C8B-B14F-4D97-AF65-F5344CB8AC3E}">
        <p14:creationId xmlns:p14="http://schemas.microsoft.com/office/powerpoint/2010/main" val="1678163377"/>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Effect transition="in" filter="fade">
                                      <p:cBhvr>
                                        <p:cTn id="9" dur="1000"/>
                                        <p:tgtEl>
                                          <p:spTgt spid="11"/>
                                        </p:tgtEl>
                                      </p:cBhvr>
                                    </p:animEffect>
                                    <p:anim calcmode="lin" valueType="num">
                                      <p:cBhvr>
                                        <p:cTn id="10" dur="1000" fill="hold"/>
                                        <p:tgtEl>
                                          <p:spTgt spid="11"/>
                                        </p:tgtEl>
                                        <p:attrNameLst>
                                          <p:attrName>ppt_x</p:attrName>
                                        </p:attrNameLst>
                                      </p:cBhvr>
                                      <p:tavLst>
                                        <p:tav tm="0">
                                          <p:val>
                                            <p:fltVal val="0.5"/>
                                          </p:val>
                                        </p:tav>
                                        <p:tav tm="100000">
                                          <p:val>
                                            <p:strVal val="#ppt_x"/>
                                          </p:val>
                                        </p:tav>
                                      </p:tavLst>
                                    </p:anim>
                                    <p:anim calcmode="lin" valueType="num">
                                      <p:cBhvr>
                                        <p:cTn id="11" dur="1000" fill="hold"/>
                                        <p:tgtEl>
                                          <p:spTgt spid="11"/>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31D3D4E-040D-4F59-9215-B1F04B81B9FE}">
  <ds:schemaRefs>
    <ds:schemaRef ds:uri="http://schemas.microsoft.com/sharepoint/v3/contenttype/forms"/>
  </ds:schemaRefs>
</ds:datastoreItem>
</file>

<file path=customXml/itemProps2.xml><?xml version="1.0" encoding="utf-8"?>
<ds:datastoreItem xmlns:ds="http://schemas.openxmlformats.org/officeDocument/2006/customXml" ds:itemID="{5A7188B1-CB43-4216-A332-EE7733BC22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E52C7A-8834-4F18-859F-7167A187E13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217</Words>
  <Application>Microsoft Office PowerPoint</Application>
  <PresentationFormat>Widescreen</PresentationFormat>
  <Paragraphs>69</Paragraphs>
  <Slides>12</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Arial Rounded MT Bold</vt:lpstr>
      <vt:lpstr>Calibri</vt:lpstr>
      <vt:lpstr>Century Schoolbook</vt:lpstr>
      <vt:lpstr>Georgia Pro Cond Semibold</vt:lpstr>
      <vt:lpstr>Lucida Calligraphy</vt:lpstr>
      <vt:lpstr>Tenorite</vt:lpstr>
      <vt:lpstr>Times New Roman</vt:lpstr>
      <vt:lpstr>Wingdings</vt:lpstr>
      <vt:lpstr>Custom</vt:lpstr>
      <vt:lpstr>Clickmart</vt:lpstr>
      <vt:lpstr>Agenda</vt:lpstr>
      <vt:lpstr>Introduction </vt:lpstr>
      <vt:lpstr>Technologies</vt:lpstr>
      <vt:lpstr>Features</vt:lpstr>
      <vt:lpstr>Data Flow Chart (User)</vt:lpstr>
      <vt:lpstr>Data Flow Chart (Admin)</vt:lpstr>
      <vt:lpstr>Advantages </vt:lpstr>
      <vt:lpstr>Disadvantages </vt:lpstr>
      <vt:lpstr>Future Plans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2023-12-12T16:04:07Z</dcterms:created>
  <dcterms:modified xsi:type="dcterms:W3CDTF">2024-05-30T21:18:00Z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